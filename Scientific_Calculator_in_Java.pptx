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28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khgautam1/Scientific-Calculato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lculator PPT Templates - Free PPT Backgrounds">
            <a:extLst>
              <a:ext uri="{FF2B5EF4-FFF2-40B4-BE49-F238E27FC236}">
                <a16:creationId xmlns:a16="http://schemas.microsoft.com/office/drawing/2014/main" id="{BB983879-B344-DAEF-74A4-A41A3889A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32075C-04D9-B08D-F8A4-CB60EBD824C8}"/>
              </a:ext>
            </a:extLst>
          </p:cNvPr>
          <p:cNvSpPr txBox="1"/>
          <p:nvPr/>
        </p:nvSpPr>
        <p:spPr>
          <a:xfrm>
            <a:off x="1076178" y="253218"/>
            <a:ext cx="5247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lgerian" panose="04020705040A02060702" pitchFamily="82" charset="0"/>
              </a:rPr>
              <a:t>R.R INSTITUTE OF MODERN TECHNOLOGY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21C5D-64AE-1408-88C7-6679E9498E3F}"/>
              </a:ext>
            </a:extLst>
          </p:cNvPr>
          <p:cNvSpPr txBox="1"/>
          <p:nvPr/>
        </p:nvSpPr>
        <p:spPr>
          <a:xfrm>
            <a:off x="675249" y="1111348"/>
            <a:ext cx="524724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Team Members : Alekh Gautam, Ayan Kumar , Aman Upadhyay</a:t>
            </a:r>
          </a:p>
          <a:p>
            <a:endParaRPr lang="en-IN" dirty="0"/>
          </a:p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Course</a:t>
            </a:r>
            <a:r>
              <a:rPr lang="en-IN" dirty="0">
                <a:latin typeface="Angsana New" panose="02020603050405020304" pitchFamily="18" charset="-34"/>
                <a:cs typeface="Angsana New" panose="02020603050405020304" pitchFamily="18" charset="-34"/>
              </a:rPr>
              <a:t> : BTECH  </a:t>
            </a:r>
            <a:endParaRPr lang="en-IN" sz="2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 Batch </a:t>
            </a:r>
            <a:r>
              <a:rPr lang="en-IN" dirty="0">
                <a:latin typeface="Angsana New" panose="02020603050405020304" pitchFamily="18" charset="-34"/>
                <a:cs typeface="Angsana New" panose="02020603050405020304" pitchFamily="18" charset="-34"/>
              </a:rPr>
              <a:t>: CSE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Group</a:t>
            </a:r>
            <a:r>
              <a:rPr lang="en-IN" dirty="0"/>
              <a:t> : </a:t>
            </a:r>
            <a:r>
              <a:rPr lang="en-IN" dirty="0">
                <a:latin typeface="Angsana New" panose="02020603050405020304" pitchFamily="18" charset="-34"/>
                <a:cs typeface="Angsana New" panose="02020603050405020304" pitchFamily="18" charset="-34"/>
              </a:rPr>
              <a:t>Tech 1(c) </a:t>
            </a:r>
          </a:p>
          <a:p>
            <a:endParaRPr lang="en-IN" sz="2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Guided By </a:t>
            </a:r>
            <a:r>
              <a:rPr lang="en-IN" dirty="0"/>
              <a:t>: </a:t>
            </a:r>
            <a:r>
              <a:rPr lang="en-IN" dirty="0">
                <a:latin typeface="Angsana New" panose="02020603050405020304" pitchFamily="18" charset="-34"/>
                <a:cs typeface="Angsana New" panose="02020603050405020304" pitchFamily="18" charset="-34"/>
              </a:rPr>
              <a:t>Raghav Ranjan Sir</a:t>
            </a:r>
          </a:p>
          <a:p>
            <a:endParaRPr lang="en-IN" dirty="0"/>
          </a:p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GitHub Link </a:t>
            </a:r>
            <a:r>
              <a:rPr lang="en-IN" dirty="0"/>
              <a:t>: </a:t>
            </a:r>
            <a:r>
              <a:rPr lang="en-IN" dirty="0">
                <a:latin typeface="Angsana New" panose="02020603050405020304" pitchFamily="18" charset="-34"/>
                <a:cs typeface="Angsana New" panose="02020603050405020304" pitchFamily="18" charset="-34"/>
                <a:hlinkClick r:id="rId3"/>
              </a:rPr>
              <a:t>https://github.com/alekhgautam1/Scientific-Calculator</a:t>
            </a:r>
            <a:endParaRPr lang="en-IN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39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8831" y="345746"/>
            <a:ext cx="5986463" cy="2593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700" b="1" kern="0" spc="-2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SCIENTIFIC
CALCULATOR
IN JAVA</a:t>
            </a:r>
            <a:endParaRPr lang="en-US" sz="5700" dirty="0"/>
          </a:p>
        </p:txBody>
      </p:sp>
      <p:sp>
        <p:nvSpPr>
          <p:cNvPr id="4" name="Shape 1"/>
          <p:cNvSpPr/>
          <p:nvPr/>
        </p:nvSpPr>
        <p:spPr>
          <a:xfrm>
            <a:off x="2078831" y="3367553"/>
            <a:ext cx="5986463" cy="651504"/>
          </a:xfrm>
          <a:prstGeom prst="rect">
            <a:avLst/>
          </a:prstGeom>
          <a:solidFill>
            <a:srgbClr val="FF6B6B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078831" y="3367553"/>
            <a:ext cx="57150" cy="65150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3"/>
          <p:cNvSpPr/>
          <p:nvPr/>
        </p:nvSpPr>
        <p:spPr>
          <a:xfrm>
            <a:off x="2078831" y="3367553"/>
            <a:ext cx="5986463" cy="651504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GUI-Based Scientific Calculator Using Java Swing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107406" y="4447682"/>
            <a:ext cx="5929313" cy="35004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5"/>
          <p:cNvSpPr/>
          <p:nvPr/>
        </p:nvSpPr>
        <p:spPr>
          <a:xfrm>
            <a:off x="2107406" y="4447682"/>
            <a:ext cx="5929313" cy="350044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F4F4F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JAVA SWING &amp; AWT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70" y="571500"/>
            <a:ext cx="8469613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is a Scientific Calculator?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7023" y="1308729"/>
            <a:ext cx="457200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scientific calculator goes beyond basic arithmetic to handle functions used in engineering, physics, and higher mathematics.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69893" y="2397370"/>
            <a:ext cx="446911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offers operations like </a:t>
            </a:r>
            <a:r>
              <a:rPr lang="en-US" sz="1400" b="1" dirty="0">
                <a:solidFill>
                  <a:srgbClr val="FF6B6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trigonometry, logarithms, exponentiation, and factorial</a:t>
            </a:r>
            <a:r>
              <a:rPr lang="en-US" sz="150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7023" y="3165993"/>
            <a:ext cx="4572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Implementing one in Java demonstrates OOP, GUI event handling, and expression evaluation.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3" y="1371516"/>
            <a:ext cx="3214688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Key Features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1000125" y="1280154"/>
            <a:ext cx="2305031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280154"/>
            <a:ext cx="57150" cy="165020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1394454"/>
            <a:ext cx="285750" cy="28575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006" y="1451604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4425" y="1765929"/>
            <a:ext cx="20764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BASIC ARITHMETIC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14425" y="2030248"/>
            <a:ext cx="20764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Addition, subtraction, multiplication, and division operations.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419456" y="1280154"/>
            <a:ext cx="2305059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3419456" y="1280154"/>
            <a:ext cx="57150" cy="165020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Shape 8"/>
          <p:cNvSpPr/>
          <p:nvPr/>
        </p:nvSpPr>
        <p:spPr>
          <a:xfrm>
            <a:off x="3533756" y="1394454"/>
            <a:ext cx="285750" cy="28575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191" y="1451604"/>
            <a:ext cx="192881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3756" y="1765929"/>
            <a:ext cx="207645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SCIENTIFIC FUNCTIONS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33756" y="2030248"/>
            <a:ext cx="20764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sin, cos, tan, log, ln, sqrt, cbrt, and exponentiation (pow).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838816" y="1280154"/>
            <a:ext cx="2305031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838816" y="1280154"/>
            <a:ext cx="57150" cy="165020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Shape 13"/>
          <p:cNvSpPr/>
          <p:nvPr/>
        </p:nvSpPr>
        <p:spPr>
          <a:xfrm>
            <a:off x="5953116" y="1394454"/>
            <a:ext cx="285750" cy="28575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697" y="1451604"/>
            <a:ext cx="128588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53116" y="1765929"/>
            <a:ext cx="20764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ADVANCED OPERATIONS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53116" y="2237417"/>
            <a:ext cx="20764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Factorial (!), percentage (%), absolute value (|x|), and reciprocal (1/x).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1000125" y="3044661"/>
            <a:ext cx="2305031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1000125" y="3044661"/>
            <a:ext cx="57150" cy="165020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Shape 18"/>
          <p:cNvSpPr/>
          <p:nvPr/>
        </p:nvSpPr>
        <p:spPr>
          <a:xfrm>
            <a:off x="1114425" y="3158961"/>
            <a:ext cx="285750" cy="28575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144" y="3216111"/>
            <a:ext cx="214313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4425" y="3530436"/>
            <a:ext cx="20764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INVERSE TRIGONOMETRY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14425" y="4001923"/>
            <a:ext cx="20764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arcsin, arccos, and arctan functions for complex calculations.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419456" y="3044661"/>
            <a:ext cx="2305059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3419456" y="3044661"/>
            <a:ext cx="57150" cy="165020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Shape 23"/>
          <p:cNvSpPr/>
          <p:nvPr/>
        </p:nvSpPr>
        <p:spPr>
          <a:xfrm>
            <a:off x="3533756" y="3158961"/>
            <a:ext cx="285750" cy="28575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0191" y="3216111"/>
            <a:ext cx="192881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3756" y="3530436"/>
            <a:ext cx="207645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MEMORY FUNCTIONS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33756" y="3794754"/>
            <a:ext cx="207645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Memory Clear (MC), Memory Recall (MR), Memory Add (M+), Memory Subtract (M-).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838816" y="3044661"/>
            <a:ext cx="2305031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5838816" y="3044661"/>
            <a:ext cx="57150" cy="165020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6" name="Shape 28"/>
          <p:cNvSpPr/>
          <p:nvPr/>
        </p:nvSpPr>
        <p:spPr>
          <a:xfrm>
            <a:off x="5953116" y="3158961"/>
            <a:ext cx="285750" cy="28575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8834" y="3216111"/>
            <a:ext cx="214313" cy="1714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953116" y="3530436"/>
            <a:ext cx="20764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EXPRESSION EVALUATION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953116" y="4001923"/>
            <a:ext cx="20764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Supports nested parentheses and proper operator precedence handling.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Core Technologies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000125" y="1280154"/>
            <a:ext cx="1035844" cy="288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Java packages and concepts used to build a responsive scientific calculator.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321719" y="1280154"/>
            <a:ext cx="2443163" cy="1770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321719" y="1280154"/>
            <a:ext cx="57150" cy="177092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Shape 4"/>
          <p:cNvSpPr/>
          <p:nvPr/>
        </p:nvSpPr>
        <p:spPr>
          <a:xfrm>
            <a:off x="2464594" y="1394454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894" y="1487323"/>
            <a:ext cx="128588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36081" y="1394454"/>
            <a:ext cx="16859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JAVAX.SWING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936081" y="1658773"/>
            <a:ext cx="16859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JFrame, JButton, JTextField, JPanel for UI.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879181" y="1280154"/>
            <a:ext cx="1819870" cy="1770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879181" y="1280154"/>
            <a:ext cx="57150" cy="177092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Shape 9"/>
          <p:cNvSpPr/>
          <p:nvPr/>
        </p:nvSpPr>
        <p:spPr>
          <a:xfrm>
            <a:off x="5022056" y="1394454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925" y="1487323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93544" y="1394454"/>
            <a:ext cx="10626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JAVA.AWT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93544" y="1658773"/>
            <a:ext cx="106263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Layout managers, fonts, colors, graphics.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13352" y="1280154"/>
            <a:ext cx="2457450" cy="1674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813352" y="1280154"/>
            <a:ext cx="57150" cy="167448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Shape 14"/>
          <p:cNvSpPr/>
          <p:nvPr/>
        </p:nvSpPr>
        <p:spPr>
          <a:xfrm>
            <a:off x="6956227" y="1394454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242" y="1487323"/>
            <a:ext cx="107156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27714" y="1394454"/>
            <a:ext cx="17002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JAVA.AWT.EVENT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427714" y="1658773"/>
            <a:ext cx="17002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ActionEvent and ActionListener for interactions.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321719" y="3068938"/>
            <a:ext cx="2443163" cy="20745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2321719" y="3068938"/>
            <a:ext cx="57150" cy="207456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Shape 19"/>
          <p:cNvSpPr/>
          <p:nvPr/>
        </p:nvSpPr>
        <p:spPr>
          <a:xfrm>
            <a:off x="2464594" y="3183238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6747" y="3276107"/>
            <a:ext cx="192881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936081" y="3183238"/>
            <a:ext cx="16287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JAVA.LANG.MATH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2936081" y="3447557"/>
            <a:ext cx="16287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Math functions: sqrt, sin, cos, log, pow.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822031" y="3068938"/>
            <a:ext cx="1819870" cy="20745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4822031" y="3068938"/>
            <a:ext cx="57150" cy="207456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1" name="Shape 24"/>
          <p:cNvSpPr/>
          <p:nvPr/>
        </p:nvSpPr>
        <p:spPr>
          <a:xfrm>
            <a:off x="4964906" y="3279679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7775" y="3372548"/>
            <a:ext cx="171450" cy="1714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36394" y="3279679"/>
            <a:ext cx="1005483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36394" y="3751166"/>
            <a:ext cx="1005483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try-catch to manage invalid inputs and domain errors.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699052" y="3165379"/>
            <a:ext cx="2457450" cy="19781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8"/>
          <p:cNvSpPr/>
          <p:nvPr/>
        </p:nvSpPr>
        <p:spPr>
          <a:xfrm>
            <a:off x="6699052" y="3165379"/>
            <a:ext cx="57150" cy="1978121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7" name="Shape 29"/>
          <p:cNvSpPr/>
          <p:nvPr/>
        </p:nvSpPr>
        <p:spPr>
          <a:xfrm>
            <a:off x="6841927" y="3279679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4795" y="3372548"/>
            <a:ext cx="171450" cy="17145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313414" y="3279679"/>
            <a:ext cx="16430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THREADING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7313414" y="3543998"/>
            <a:ext cx="16430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SwingUtilities.invokeLater for GUI tasks.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7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113155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Architecture and Design Pattern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988809"/>
            <a:ext cx="71437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77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Implementation — Step 1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000125" y="1423029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543050" y="1423029"/>
            <a:ext cx="230564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IDE &amp; JDK Setup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43050" y="1678056"/>
            <a:ext cx="21145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Eclipse or IntelliJ; JDK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543050" y="1900935"/>
            <a:ext cx="228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8+.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0125" y="2205968"/>
            <a:ext cx="46613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1609130" y="2205968"/>
            <a:ext cx="2239566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Import Packages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09130" y="2460994"/>
            <a:ext cx="17823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 GUI and event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609130" y="2683873"/>
            <a:ext cx="8036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packages.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0125" y="2988906"/>
            <a:ext cx="47327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1616273" y="2988906"/>
            <a:ext cx="2232422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Define Main Class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16273" y="3243932"/>
            <a:ext cx="19627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a class extending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616273" y="3466812"/>
            <a:ext cx="6268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JFrame.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00125" y="3771844"/>
            <a:ext cx="4857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1628775" y="3771844"/>
            <a:ext cx="2219920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Constructor Setup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28775" y="4026870"/>
            <a:ext cx="19913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Initialize frame title and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628775" y="4249750"/>
            <a:ext cx="5536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layout.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00125" y="4554782"/>
            <a:ext cx="46613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05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1609130" y="4554782"/>
            <a:ext cx="2239566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TextField Configuration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09130" y="4809809"/>
            <a:ext cx="21199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 a non-editable, right-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09130" y="5032688"/>
            <a:ext cx="15394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aligned JTextField.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134445" y="1423029"/>
            <a:ext cx="4009430" cy="2825995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5" name="Text 22"/>
          <p:cNvSpPr/>
          <p:nvPr/>
        </p:nvSpPr>
        <p:spPr>
          <a:xfrm>
            <a:off x="4263033" y="1551617"/>
            <a:ext cx="375225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Imports &amp; Class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263033" y="1731634"/>
            <a:ext cx="375225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javax.swing.*; </a:t>
            </a: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java.awt.*; </a:t>
            </a: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java.awt.event.*;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263033" y="2134530"/>
            <a:ext cx="375225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class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ScientificCalculator </a:t>
            </a: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extends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JFrame </a:t>
            </a: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implements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ActionListener {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405908" y="2537427"/>
            <a:ext cx="360938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JTextField display; </a:t>
            </a:r>
            <a:r>
              <a:rPr lang="en-US" sz="950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JPanel buttonPanel;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263033" y="2954610"/>
            <a:ext cx="375225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Constructor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405908" y="3177490"/>
            <a:ext cx="360938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ScientificCalculator() { setTitle("Scientific Calculator"); setDefaultCloseOperation(JFrame.EXIT_ON_CLOSE); setLayout(new BorderLayout()); }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263033" y="3940420"/>
            <a:ext cx="375225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05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0290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Building the GUI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1000125" y="1217284"/>
            <a:ext cx="951905" cy="23738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217284"/>
            <a:ext cx="42863" cy="237381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3"/>
          <p:cNvSpPr/>
          <p:nvPr/>
        </p:nvSpPr>
        <p:spPr>
          <a:xfrm>
            <a:off x="1085850" y="1288721"/>
            <a:ext cx="780455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1. BUTTON ARRAY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85850" y="1899512"/>
            <a:ext cx="780455" cy="1620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Define labels for digits, operators, scientific functions and memory keys.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37755" y="1217284"/>
            <a:ext cx="1010841" cy="23738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037755" y="1217284"/>
            <a:ext cx="42863" cy="237381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7"/>
          <p:cNvSpPr/>
          <p:nvPr/>
        </p:nvSpPr>
        <p:spPr>
          <a:xfrm>
            <a:off x="2123480" y="1288721"/>
            <a:ext cx="839391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2. JPANEL LAYOUT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23480" y="1710203"/>
            <a:ext cx="839391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GridLayout (e.g., 7x4) to arrange buttons uniformly.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34320" y="1217284"/>
            <a:ext cx="1351955" cy="23738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134320" y="1217284"/>
            <a:ext cx="42863" cy="237381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1"/>
          <p:cNvSpPr/>
          <p:nvPr/>
        </p:nvSpPr>
        <p:spPr>
          <a:xfrm>
            <a:off x="3262908" y="1288721"/>
            <a:ext cx="1137642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3. ACTION LISTENERS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62908" y="1710203"/>
            <a:ext cx="1137642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 each button with addActionListener to handle clicks.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00125" y="3316793"/>
            <a:ext cx="994767" cy="18337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0125" y="3316793"/>
            <a:ext cx="42863" cy="1833767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1085850" y="3388230"/>
            <a:ext cx="823317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4. BUTTON STYLING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85850" y="3999021"/>
            <a:ext cx="823317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Apply consistent fonts and colors for a cohesive look.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080617" y="3316793"/>
            <a:ext cx="1010841" cy="18337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2080617" y="3316793"/>
            <a:ext cx="42863" cy="1833767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19"/>
          <p:cNvSpPr/>
          <p:nvPr/>
        </p:nvSpPr>
        <p:spPr>
          <a:xfrm>
            <a:off x="2174379" y="3198921"/>
            <a:ext cx="831354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5. PANEL ADDITION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174379" y="3620402"/>
            <a:ext cx="831354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Place the button panel in CENTER and display in NORTH.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57725" y="1217284"/>
            <a:ext cx="3486150" cy="209155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5" name="Text 22"/>
          <p:cNvSpPr/>
          <p:nvPr/>
        </p:nvSpPr>
        <p:spPr>
          <a:xfrm>
            <a:off x="4657725" y="1217284"/>
            <a:ext cx="3486150" cy="20915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String[] labels = {"1","2","3","/","4","5","6","*","7","8","9","-","0",".","=","+","sin","cos","tan","log"};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JPanel panel = new JPanel();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panel.setLayout(new GridLayout(5,4,3,3));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 (String label : labels) { JButton btn = new JButton(label); btn.setFont(new Font("Arial",1,18)); btn.addActionListener(this); panel.add(btn); }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add(panel, BorderLayout.CENTER);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Step 3: Event Handling Logic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000125" y="1365879"/>
            <a:ext cx="34290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</a:t>
            </a:r>
            <a:r>
              <a:rPr lang="en-US" sz="1200" b="1" dirty="0">
                <a:solidFill>
                  <a:srgbClr val="FF6B6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actionPerformed()</a:t>
            </a: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method is the heart of the calculator's logic, capturing every user interaction.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00125" y="2143069"/>
            <a:ext cx="342900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Digit Input:</a:t>
            </a: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When a number or decimal button is pressed, the character is appended to the current expression string for display.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00125" y="3160272"/>
            <a:ext cx="34290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Operator Buttons:</a:t>
            </a: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Store the selected operator and manage operand strings for sequential calculations.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00125" y="3937462"/>
            <a:ext cx="34290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Scientific Functions:</a:t>
            </a:r>
            <a:r>
              <a:rPr lang="en-US" sz="12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Buttons like sin, cos, sqrt, log, and ! directly evaluate the current display value.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14875" y="1365879"/>
            <a:ext cx="3429000" cy="323173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6"/>
          <p:cNvSpPr/>
          <p:nvPr/>
        </p:nvSpPr>
        <p:spPr>
          <a:xfrm>
            <a:off x="4800600" y="1451604"/>
            <a:ext cx="32575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void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actionPerformed(ActionEvent e) {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43475" y="1811638"/>
            <a:ext cx="31146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String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 = e.getActionCommand();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943475" y="1997013"/>
            <a:ext cx="19198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Digit or decimal input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43475" y="2171672"/>
            <a:ext cx="3114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((s.charAt(0) &gt;= </a:t>
            </a: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'0'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&amp;&amp; s.charAt(0) &lt;= </a:t>
            </a: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'9'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|| s.charAt(0) == </a:t>
            </a: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'.'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{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86350" y="2531706"/>
            <a:ext cx="2971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str2 = str2 + s;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86350" y="2711723"/>
            <a:ext cx="2971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field.setText(str + str1 + str2);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43475" y="2891740"/>
            <a:ext cx="31146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43475" y="3077115"/>
            <a:ext cx="176629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Scientific functions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43475" y="3251774"/>
            <a:ext cx="31146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else if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(s.equals(</a:t>
            </a: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"sin"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)) {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86350" y="3431791"/>
            <a:ext cx="2971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double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val = Double.parseDouble(str2);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86350" y="3611807"/>
            <a:ext cx="29718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field.setText(</a:t>
            </a: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"sin("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+ val + </a:t>
            </a:r>
            <a:r>
              <a:rPr lang="en-US" sz="9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") = "</a:t>
            </a: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+ Math.sin(Math.toRadians(val)));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43475" y="3971841"/>
            <a:ext cx="31146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943475" y="4151858"/>
            <a:ext cx="31146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...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00600" y="4331875"/>
            <a:ext cx="32575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0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0290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Recursive Descent Parsing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1000125" y="1160134"/>
            <a:ext cx="1725216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160134"/>
            <a:ext cx="57150" cy="131445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3"/>
          <p:cNvSpPr/>
          <p:nvPr/>
        </p:nvSpPr>
        <p:spPr>
          <a:xfrm>
            <a:off x="1071563" y="1217284"/>
            <a:ext cx="158234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PARSER CLASS STRUCTURE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1563" y="1604832"/>
            <a:ext cx="45720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Nested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71563" y="1604832"/>
            <a:ext cx="1534120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ExpressionParser keeps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459111" y="1765567"/>
            <a:ext cx="109478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position pointer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1563" y="1920943"/>
            <a:ext cx="2314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03037" y="1929873"/>
            <a:ext cx="108406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current char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87101" y="1920943"/>
            <a:ext cx="1543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1563" y="2090607"/>
            <a:ext cx="15359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25153" y="2090607"/>
            <a:ext cx="112692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traverse the input.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82491" y="1160134"/>
            <a:ext cx="1725216" cy="1150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782491" y="1160134"/>
            <a:ext cx="57150" cy="1150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7" name="Text 14"/>
          <p:cNvSpPr/>
          <p:nvPr/>
        </p:nvSpPr>
        <p:spPr>
          <a:xfrm>
            <a:off x="2853928" y="1217284"/>
            <a:ext cx="15823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PARSEEXPRESSION()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53928" y="1433382"/>
            <a:ext cx="158234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Handles addition and subtraction (lowest precedence) in a loop over parsed terms.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00125" y="2367428"/>
            <a:ext cx="1725216" cy="1134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1000125" y="2367428"/>
            <a:ext cx="57150" cy="113407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1" name="Text 18"/>
          <p:cNvSpPr/>
          <p:nvPr/>
        </p:nvSpPr>
        <p:spPr>
          <a:xfrm>
            <a:off x="1071563" y="2424578"/>
            <a:ext cx="15823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PARSETERM()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71563" y="2640676"/>
            <a:ext cx="158234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Handles multiplication, division, and exponentiation at higher precedence.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82491" y="2367428"/>
            <a:ext cx="1725216" cy="1134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2782491" y="2367428"/>
            <a:ext cx="57150" cy="113407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5" name="Text 22"/>
          <p:cNvSpPr/>
          <p:nvPr/>
        </p:nvSpPr>
        <p:spPr>
          <a:xfrm>
            <a:off x="2853928" y="2424578"/>
            <a:ext cx="15823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PARSEFACTOR()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853928" y="2640676"/>
            <a:ext cx="1582341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Handles parentheses, numbers, and unary functions; calls recursively for nested parentheses.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000125" y="3558648"/>
            <a:ext cx="1725216" cy="14680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1000125" y="3558648"/>
            <a:ext cx="57150" cy="1468041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9" name="Text 26"/>
          <p:cNvSpPr/>
          <p:nvPr/>
        </p:nvSpPr>
        <p:spPr>
          <a:xfrm>
            <a:off x="1071563" y="3615798"/>
            <a:ext cx="15823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FUNCTION HANDLING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71563" y="3831896"/>
            <a:ext cx="158234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Recognizes identifiers (sqrt, sin, cos, log) and applies the corresponding Math methods to parsed values.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36294" y="1160134"/>
            <a:ext cx="3507581" cy="1531469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2" name="Text 29"/>
          <p:cNvSpPr/>
          <p:nvPr/>
        </p:nvSpPr>
        <p:spPr>
          <a:xfrm>
            <a:off x="4707731" y="1231571"/>
            <a:ext cx="33647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double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parseExpression() { double x = parseTerm(); while (true) { if (eat(</a:t>
            </a:r>
            <a:r>
              <a:rPr lang="en-US" sz="8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'+'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)) x += parseTerm(); else if (eat(</a:t>
            </a:r>
            <a:r>
              <a:rPr lang="en-US" sz="8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'-'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)) x -= parseTerm(); else return x; } }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707731" y="1848724"/>
            <a:ext cx="3364706" cy="77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00" b="1" dirty="0">
                <a:solidFill>
                  <a:srgbClr val="FF6B6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double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parseFactor() { if (eat(</a:t>
            </a:r>
            <a:r>
              <a:rPr lang="en-US" sz="8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'('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)) { double x = parseExpression(); eat(</a:t>
            </a:r>
            <a:r>
              <a:rPr lang="en-US" sz="850" dirty="0">
                <a:solidFill>
                  <a:srgbClr val="4ECDC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')'</a:t>
            </a:r>
            <a:r>
              <a:rPr lang="en-US" sz="850" dirty="0">
                <a:solidFill>
                  <a:srgbClr val="F4F4F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 return x; } else if (isDigit(ch)) return parseNumber(); else if (isLetter(ch)) { /* handle sqrt, sin, etc. */ } }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Complete Code Sample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000125" y="1280154"/>
            <a:ext cx="221740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IMPORTS &amp; CLASS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0125" y="1544473"/>
            <a:ext cx="221740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 necessary packages and define the main class extending JFrame.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00125" y="2273136"/>
            <a:ext cx="221740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CONSTRUCTOR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0125" y="2537454"/>
            <a:ext cx="221740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Initialize GUI components, layout managers, and button panels.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00125" y="3266117"/>
            <a:ext cx="221740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MAIN METHOD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0125" y="3530436"/>
            <a:ext cx="221740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 point using SwingUtilities.invokeLater for thread safety.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846" y="1280154"/>
            <a:ext cx="4712029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User Experience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1000125" y="1423029"/>
            <a:ext cx="3429000" cy="671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423029"/>
            <a:ext cx="57150" cy="671847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" y="1539115"/>
            <a:ext cx="16073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0884" y="1494467"/>
            <a:ext cx="29539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DISPLAY AREA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360884" y="1703422"/>
            <a:ext cx="29539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large, readable text field at the top shows the current expression and computed result.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1000125" y="2152027"/>
            <a:ext cx="3429000" cy="671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1000125" y="2152027"/>
            <a:ext cx="57150" cy="671847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" y="2268113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3025" y="2223464"/>
            <a:ext cx="29718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BUTTON LAYOUT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343025" y="2432419"/>
            <a:ext cx="29718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Scientific functions arranged on top rows, numbers and basic operators in the center.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1000125" y="2881024"/>
            <a:ext cx="3429000" cy="671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0125" y="2881024"/>
            <a:ext cx="57150" cy="671847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25" y="2997110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3025" y="2952462"/>
            <a:ext cx="29718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COLOR CODING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343025" y="3161416"/>
            <a:ext cx="29718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Different colors for number buttons, operator buttons, and scientific functions improve usability.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1000125" y="3610022"/>
            <a:ext cx="3429000" cy="671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1000125" y="3610022"/>
            <a:ext cx="57150" cy="671847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5" y="3726107"/>
            <a:ext cx="160734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60884" y="3681459"/>
            <a:ext cx="29539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INPUT FLOW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360884" y="3890414"/>
            <a:ext cx="29539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Users type expressions naturally — digits build the number, operators chain operations.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1000125" y="4339019"/>
            <a:ext cx="3429000" cy="671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8"/>
          <p:cNvSpPr/>
          <p:nvPr/>
        </p:nvSpPr>
        <p:spPr>
          <a:xfrm>
            <a:off x="1000125" y="4339019"/>
            <a:ext cx="57150" cy="671847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425" y="4455105"/>
            <a:ext cx="142875" cy="1428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43025" y="4410456"/>
            <a:ext cx="29718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ERROR FEEDBACK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343025" y="4619411"/>
            <a:ext cx="29718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Invalid operations (e.g., log of negative number) show clear error messages instead of crashing.</a:t>
            </a:r>
            <a:endParaRPr lang="en-US" sz="8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423029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1500"/>
            <a:ext cx="8143875" cy="56577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kern="0" spc="-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Key Takeaways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1000125" y="1423029"/>
            <a:ext cx="3464719" cy="996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423029"/>
            <a:ext cx="57150" cy="99655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3"/>
          <p:cNvSpPr/>
          <p:nvPr/>
        </p:nvSpPr>
        <p:spPr>
          <a:xfrm>
            <a:off x="1171575" y="1508754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728" y="1601623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71638" y="1508754"/>
            <a:ext cx="26217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OOP MASTERY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671638" y="1755214"/>
            <a:ext cx="26217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Demonstrates class inheritance (JFrame), interface implementation (ActionListener), and encapsulation.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79156" y="1423029"/>
            <a:ext cx="3464719" cy="996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679156" y="1423029"/>
            <a:ext cx="57150" cy="99655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Shape 8"/>
          <p:cNvSpPr/>
          <p:nvPr/>
        </p:nvSpPr>
        <p:spPr>
          <a:xfrm>
            <a:off x="4850606" y="1508754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759" y="1601623"/>
            <a:ext cx="192881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50669" y="1508754"/>
            <a:ext cx="26217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GUI DEVELOPMENT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350669" y="1755214"/>
            <a:ext cx="26217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Practical experience with Swing components, layout managers, and event-driven programming.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1000125" y="2633895"/>
            <a:ext cx="3464719" cy="996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0125" y="2633895"/>
            <a:ext cx="57150" cy="99655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Shape 13"/>
          <p:cNvSpPr/>
          <p:nvPr/>
        </p:nvSpPr>
        <p:spPr>
          <a:xfrm>
            <a:off x="1171575" y="2719620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444" y="2812489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71638" y="2719620"/>
            <a:ext cx="26217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ALGORITHMIC THINKING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671638" y="2966079"/>
            <a:ext cx="26217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Expression parsing teaches recursive descent parsing and operator precedence handling.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679156" y="2633895"/>
            <a:ext cx="3464719" cy="996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679156" y="2633895"/>
            <a:ext cx="57150" cy="99655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4" name="Shape 18"/>
          <p:cNvSpPr/>
          <p:nvPr/>
        </p:nvSpPr>
        <p:spPr>
          <a:xfrm>
            <a:off x="4850606" y="2719620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3475" y="2812489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50669" y="2719620"/>
            <a:ext cx="26217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REAL-WORLD RELEVANCE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350669" y="2966079"/>
            <a:ext cx="26217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Calculator applications are used in education, engineering tools, financial software, and scientific research.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1000125" y="3844761"/>
            <a:ext cx="3464719" cy="996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1000125" y="3844761"/>
            <a:ext cx="57150" cy="99655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0" name="Shape 23"/>
          <p:cNvSpPr/>
          <p:nvPr/>
        </p:nvSpPr>
        <p:spPr>
          <a:xfrm>
            <a:off x="1171575" y="3930486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159" y="4023354"/>
            <a:ext cx="150019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71638" y="3930486"/>
            <a:ext cx="26217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EXTENSIBILITY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671638" y="4176945"/>
            <a:ext cx="26217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project can be enhanced with graph plotting, unit conversion, history tracking, or keyboard input support.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679156" y="3844761"/>
            <a:ext cx="3464719" cy="996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4679156" y="3844761"/>
            <a:ext cx="57150" cy="99655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6" name="Shape 28"/>
          <p:cNvSpPr/>
          <p:nvPr/>
        </p:nvSpPr>
        <p:spPr>
          <a:xfrm>
            <a:off x="4850606" y="3930486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3475" y="4023354"/>
            <a:ext cx="171450" cy="1714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50669" y="3930486"/>
            <a:ext cx="26217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CAREER VALUE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350669" y="4176945"/>
            <a:ext cx="26217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project is a strong portfolio piece for Java developers, showcasing both UI design and algorithmic skills.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BCCF56-E465-F979-9C6E-2D2B9BD50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05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2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1244</Words>
  <Application>Microsoft Office PowerPoint</Application>
  <PresentationFormat>On-screen Show (16:9)</PresentationFormat>
  <Paragraphs>174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Inter Black</vt:lpstr>
      <vt:lpstr>monospace</vt:lpstr>
      <vt:lpstr>Algerian</vt:lpstr>
      <vt:lpstr>Angsana New</vt:lpstr>
      <vt:lpstr>AngsanaUPC</vt:lpstr>
      <vt:lpstr>Arial</vt:lpstr>
      <vt:lpstr>Fira Code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alekhgautam3@outlook.com</cp:lastModifiedBy>
  <cp:revision>5</cp:revision>
  <dcterms:created xsi:type="dcterms:W3CDTF">2026-07-09T17:25:23Z</dcterms:created>
  <dcterms:modified xsi:type="dcterms:W3CDTF">2026-07-15T06:21:00Z</dcterms:modified>
</cp:coreProperties>
</file>